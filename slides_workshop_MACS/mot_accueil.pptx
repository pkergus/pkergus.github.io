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0"/>
  </p:notesMasterIdLst>
  <p:sldIdLst>
    <p:sldId id="256" r:id="rId5"/>
    <p:sldId id="268" r:id="rId6"/>
    <p:sldId id="269" r:id="rId7"/>
    <p:sldId id="270" r:id="rId8"/>
    <p:sldId id="271"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4394"/>
    <a:srgbClr val="B047BC"/>
    <a:srgbClr val="AF47BC"/>
    <a:srgbClr val="FCB03D"/>
    <a:srgbClr val="4E91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80" autoAdjust="0"/>
    <p:restoredTop sz="94660"/>
  </p:normalViewPr>
  <p:slideViewPr>
    <p:cSldViewPr snapToGrid="0">
      <p:cViewPr>
        <p:scale>
          <a:sx n="56" d="100"/>
          <a:sy n="56" d="100"/>
        </p:scale>
        <p:origin x="4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ergus\Downloads\ddc_woscor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Global count</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Feuil1!$A$14:$A$43</c:f>
              <c:numCache>
                <c:formatCode>General</c:formatCode>
                <c:ptCount val="30"/>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pt idx="27">
                  <c:v>2022</c:v>
                </c:pt>
                <c:pt idx="28">
                  <c:v>2023</c:v>
                </c:pt>
                <c:pt idx="29">
                  <c:v>2024</c:v>
                </c:pt>
              </c:numCache>
            </c:numRef>
          </c:cat>
          <c:val>
            <c:numRef>
              <c:f>Feuil1!$B$14:$B$43</c:f>
              <c:numCache>
                <c:formatCode>General</c:formatCode>
                <c:ptCount val="30"/>
                <c:pt idx="0">
                  <c:v>12</c:v>
                </c:pt>
                <c:pt idx="1">
                  <c:v>9</c:v>
                </c:pt>
                <c:pt idx="2">
                  <c:v>16</c:v>
                </c:pt>
                <c:pt idx="3">
                  <c:v>38</c:v>
                </c:pt>
                <c:pt idx="4">
                  <c:v>17</c:v>
                </c:pt>
                <c:pt idx="5">
                  <c:v>26</c:v>
                </c:pt>
                <c:pt idx="6">
                  <c:v>38</c:v>
                </c:pt>
                <c:pt idx="7">
                  <c:v>33</c:v>
                </c:pt>
                <c:pt idx="8">
                  <c:v>51</c:v>
                </c:pt>
                <c:pt idx="9">
                  <c:v>46</c:v>
                </c:pt>
                <c:pt idx="10">
                  <c:v>72</c:v>
                </c:pt>
                <c:pt idx="11">
                  <c:v>72</c:v>
                </c:pt>
                <c:pt idx="12">
                  <c:v>125</c:v>
                </c:pt>
                <c:pt idx="13">
                  <c:v>137</c:v>
                </c:pt>
                <c:pt idx="14">
                  <c:v>147</c:v>
                </c:pt>
                <c:pt idx="15">
                  <c:v>155</c:v>
                </c:pt>
                <c:pt idx="16">
                  <c:v>187</c:v>
                </c:pt>
                <c:pt idx="17">
                  <c:v>247</c:v>
                </c:pt>
                <c:pt idx="18">
                  <c:v>309</c:v>
                </c:pt>
                <c:pt idx="19">
                  <c:v>395</c:v>
                </c:pt>
                <c:pt idx="20">
                  <c:v>517</c:v>
                </c:pt>
                <c:pt idx="21">
                  <c:v>653</c:v>
                </c:pt>
                <c:pt idx="22">
                  <c:v>843</c:v>
                </c:pt>
                <c:pt idx="23">
                  <c:v>1146</c:v>
                </c:pt>
                <c:pt idx="24">
                  <c:v>1420</c:v>
                </c:pt>
                <c:pt idx="25">
                  <c:v>1921</c:v>
                </c:pt>
                <c:pt idx="26">
                  <c:v>2498</c:v>
                </c:pt>
                <c:pt idx="27">
                  <c:v>2980</c:v>
                </c:pt>
                <c:pt idx="28">
                  <c:v>3247</c:v>
                </c:pt>
                <c:pt idx="29">
                  <c:v>3925</c:v>
                </c:pt>
              </c:numCache>
            </c:numRef>
          </c:val>
          <c:smooth val="0"/>
          <c:extLst>
            <c:ext xmlns:c16="http://schemas.microsoft.com/office/drawing/2014/chart" uri="{C3380CC4-5D6E-409C-BE32-E72D297353CC}">
              <c16:uniqueId val="{00000000-54C3-458B-8150-92C79B2ADAA9}"/>
            </c:ext>
          </c:extLst>
        </c:ser>
        <c:dLbls>
          <c:showLegendKey val="0"/>
          <c:showVal val="0"/>
          <c:showCatName val="0"/>
          <c:showSerName val="0"/>
          <c:showPercent val="0"/>
          <c:showBubbleSize val="0"/>
        </c:dLbls>
        <c:marker val="1"/>
        <c:smooth val="0"/>
        <c:axId val="579244959"/>
        <c:axId val="579242879"/>
      </c:lineChart>
      <c:lineChart>
        <c:grouping val="standard"/>
        <c:varyColors val="0"/>
        <c:ser>
          <c:idx val="1"/>
          <c:order val="1"/>
          <c:tx>
            <c:v>French count</c:v>
          </c:tx>
          <c:spPr>
            <a:ln w="28575" cap="rnd">
              <a:solidFill>
                <a:srgbClr val="C00000"/>
              </a:solidFill>
              <a:round/>
            </a:ln>
            <a:effectLst/>
          </c:spPr>
          <c:marker>
            <c:symbol val="circle"/>
            <c:size val="5"/>
            <c:spPr>
              <a:solidFill>
                <a:schemeClr val="accent2"/>
              </a:solidFill>
              <a:ln w="9525">
                <a:solidFill>
                  <a:schemeClr val="accent2"/>
                </a:solidFill>
              </a:ln>
              <a:effectLst/>
            </c:spPr>
          </c:marker>
          <c:cat>
            <c:numRef>
              <c:f>Feuil1!$A$14:$A$43</c:f>
              <c:numCache>
                <c:formatCode>General</c:formatCode>
                <c:ptCount val="30"/>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pt idx="27">
                  <c:v>2022</c:v>
                </c:pt>
                <c:pt idx="28">
                  <c:v>2023</c:v>
                </c:pt>
                <c:pt idx="29">
                  <c:v>2024</c:v>
                </c:pt>
              </c:numCache>
            </c:numRef>
          </c:cat>
          <c:val>
            <c:numRef>
              <c:f>Feuil1!$C$14:$C$43</c:f>
              <c:numCache>
                <c:formatCode>General</c:formatCode>
                <c:ptCount val="30"/>
                <c:pt idx="0">
                  <c:v>1</c:v>
                </c:pt>
                <c:pt idx="1">
                  <c:v>0</c:v>
                </c:pt>
                <c:pt idx="2">
                  <c:v>0</c:v>
                </c:pt>
                <c:pt idx="3">
                  <c:v>1</c:v>
                </c:pt>
                <c:pt idx="4">
                  <c:v>5</c:v>
                </c:pt>
                <c:pt idx="5">
                  <c:v>0</c:v>
                </c:pt>
                <c:pt idx="6">
                  <c:v>2</c:v>
                </c:pt>
                <c:pt idx="7">
                  <c:v>0</c:v>
                </c:pt>
                <c:pt idx="8">
                  <c:v>2</c:v>
                </c:pt>
                <c:pt idx="9">
                  <c:v>1</c:v>
                </c:pt>
                <c:pt idx="10">
                  <c:v>2</c:v>
                </c:pt>
                <c:pt idx="11">
                  <c:v>1</c:v>
                </c:pt>
                <c:pt idx="12">
                  <c:v>4</c:v>
                </c:pt>
                <c:pt idx="13">
                  <c:v>3</c:v>
                </c:pt>
                <c:pt idx="14">
                  <c:v>3</c:v>
                </c:pt>
                <c:pt idx="15">
                  <c:v>4</c:v>
                </c:pt>
                <c:pt idx="16">
                  <c:v>9</c:v>
                </c:pt>
                <c:pt idx="17">
                  <c:v>14</c:v>
                </c:pt>
                <c:pt idx="18">
                  <c:v>11</c:v>
                </c:pt>
                <c:pt idx="19">
                  <c:v>8</c:v>
                </c:pt>
                <c:pt idx="20">
                  <c:v>26</c:v>
                </c:pt>
                <c:pt idx="21">
                  <c:v>25</c:v>
                </c:pt>
                <c:pt idx="22">
                  <c:v>36</c:v>
                </c:pt>
                <c:pt idx="23">
                  <c:v>35</c:v>
                </c:pt>
                <c:pt idx="24">
                  <c:v>45</c:v>
                </c:pt>
                <c:pt idx="25">
                  <c:v>73</c:v>
                </c:pt>
                <c:pt idx="26">
                  <c:v>90</c:v>
                </c:pt>
                <c:pt idx="27">
                  <c:v>103</c:v>
                </c:pt>
                <c:pt idx="28">
                  <c:v>80</c:v>
                </c:pt>
                <c:pt idx="29">
                  <c:v>127</c:v>
                </c:pt>
              </c:numCache>
            </c:numRef>
          </c:val>
          <c:smooth val="0"/>
          <c:extLst>
            <c:ext xmlns:c16="http://schemas.microsoft.com/office/drawing/2014/chart" uri="{C3380CC4-5D6E-409C-BE32-E72D297353CC}">
              <c16:uniqueId val="{00000001-54C3-458B-8150-92C79B2ADAA9}"/>
            </c:ext>
          </c:extLst>
        </c:ser>
        <c:dLbls>
          <c:showLegendKey val="0"/>
          <c:showVal val="0"/>
          <c:showCatName val="0"/>
          <c:showSerName val="0"/>
          <c:showPercent val="0"/>
          <c:showBubbleSize val="0"/>
        </c:dLbls>
        <c:marker val="1"/>
        <c:smooth val="0"/>
        <c:axId val="713114543"/>
        <c:axId val="713124943"/>
      </c:lineChart>
      <c:catAx>
        <c:axId val="57924495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fr-FR" sz="1200"/>
                  <a:t>Publication year</a:t>
                </a:r>
              </a:p>
            </c:rich>
          </c:tx>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79242879"/>
        <c:crosses val="autoZero"/>
        <c:auto val="1"/>
        <c:lblAlgn val="ctr"/>
        <c:lblOffset val="100"/>
        <c:noMultiLvlLbl val="0"/>
      </c:catAx>
      <c:valAx>
        <c:axId val="5792428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accent1"/>
                    </a:solidFill>
                    <a:latin typeface="+mn-lt"/>
                    <a:ea typeface="+mn-ea"/>
                    <a:cs typeface="+mn-cs"/>
                  </a:defRPr>
                </a:pPr>
                <a:r>
                  <a:rPr lang="fr-FR" sz="1200">
                    <a:solidFill>
                      <a:schemeClr val="accent1"/>
                    </a:solidFill>
                  </a:rPr>
                  <a:t>Global count</a:t>
                </a:r>
              </a:p>
            </c:rich>
          </c:tx>
          <c:layout/>
          <c:overlay val="0"/>
          <c:spPr>
            <a:noFill/>
            <a:ln>
              <a:noFill/>
            </a:ln>
            <a:effectLst/>
          </c:spPr>
          <c:txPr>
            <a:bodyPr rot="-5400000" spcFirstLastPara="1" vertOverflow="ellipsis" vert="horz" wrap="square" anchor="ctr" anchorCtr="1"/>
            <a:lstStyle/>
            <a:p>
              <a:pPr>
                <a:defRPr sz="1200" b="0" i="0" u="none" strike="noStrike" kern="1200" baseline="0">
                  <a:solidFill>
                    <a:schemeClr val="accent1"/>
                  </a:solidFill>
                  <a:latin typeface="+mn-lt"/>
                  <a:ea typeface="+mn-ea"/>
                  <a:cs typeface="+mn-cs"/>
                </a:defRPr>
              </a:pPr>
              <a:endParaRPr lang="fr-FR"/>
            </a:p>
          </c:txPr>
        </c:title>
        <c:numFmt formatCode="General" sourceLinked="1"/>
        <c:majorTickMark val="none"/>
        <c:minorTickMark val="none"/>
        <c:tickLblPos val="nextTo"/>
        <c:spPr>
          <a:noFill/>
          <a:ln w="19050">
            <a:solidFill>
              <a:schemeClr val="accent1"/>
            </a:solidFill>
          </a:ln>
          <a:effectLst/>
        </c:spPr>
        <c:txPr>
          <a:bodyPr rot="-60000000" spcFirstLastPara="1" vertOverflow="ellipsis" vert="horz" wrap="square" anchor="ctr" anchorCtr="1"/>
          <a:lstStyle/>
          <a:p>
            <a:pPr>
              <a:defRPr sz="900" b="0" i="0" u="none" strike="noStrike" kern="1200" baseline="0">
                <a:solidFill>
                  <a:schemeClr val="accent1"/>
                </a:solidFill>
                <a:latin typeface="+mn-lt"/>
                <a:ea typeface="+mn-ea"/>
                <a:cs typeface="+mn-cs"/>
              </a:defRPr>
            </a:pPr>
            <a:endParaRPr lang="fr-FR"/>
          </a:p>
        </c:txPr>
        <c:crossAx val="579244959"/>
        <c:crosses val="autoZero"/>
        <c:crossBetween val="midCat"/>
      </c:valAx>
      <c:valAx>
        <c:axId val="713124943"/>
        <c:scaling>
          <c:orientation val="minMax"/>
        </c:scaling>
        <c:delete val="0"/>
        <c:axPos val="r"/>
        <c:title>
          <c:tx>
            <c:rich>
              <a:bodyPr rot="-5400000" spcFirstLastPara="1" vertOverflow="ellipsis" vert="horz" wrap="square" anchor="ctr" anchorCtr="1"/>
              <a:lstStyle/>
              <a:p>
                <a:pPr>
                  <a:defRPr sz="1100" b="0" i="0" u="none" strike="noStrike" kern="1200" baseline="0">
                    <a:solidFill>
                      <a:schemeClr val="accent2"/>
                    </a:solidFill>
                    <a:latin typeface="+mn-lt"/>
                    <a:ea typeface="+mn-ea"/>
                    <a:cs typeface="+mn-cs"/>
                  </a:defRPr>
                </a:pPr>
                <a:r>
                  <a:rPr lang="fr-FR" sz="1100">
                    <a:solidFill>
                      <a:schemeClr val="accent2"/>
                    </a:solidFill>
                  </a:rPr>
                  <a:t>French count</a:t>
                </a:r>
              </a:p>
            </c:rich>
          </c:tx>
          <c:layout/>
          <c:overlay val="0"/>
          <c:spPr>
            <a:noFill/>
            <a:ln>
              <a:noFill/>
            </a:ln>
            <a:effectLst/>
          </c:spPr>
          <c:txPr>
            <a:bodyPr rot="-5400000" spcFirstLastPara="1" vertOverflow="ellipsis" vert="horz" wrap="square" anchor="ctr" anchorCtr="1"/>
            <a:lstStyle/>
            <a:p>
              <a:pPr>
                <a:defRPr sz="1100" b="0" i="0" u="none" strike="noStrike" kern="1200" baseline="0">
                  <a:solidFill>
                    <a:schemeClr val="accent2"/>
                  </a:solidFill>
                  <a:latin typeface="+mn-lt"/>
                  <a:ea typeface="+mn-ea"/>
                  <a:cs typeface="+mn-cs"/>
                </a:defRPr>
              </a:pPr>
              <a:endParaRPr lang="fr-FR"/>
            </a:p>
          </c:txPr>
        </c:title>
        <c:numFmt formatCode="General" sourceLinked="1"/>
        <c:majorTickMark val="out"/>
        <c:minorTickMark val="none"/>
        <c:tickLblPos val="nextTo"/>
        <c:spPr>
          <a:noFill/>
          <a:ln w="15875">
            <a:solidFill>
              <a:srgbClr val="C00000"/>
            </a:solidFill>
          </a:ln>
          <a:effectLst/>
        </c:spPr>
        <c:txPr>
          <a:bodyPr rot="-60000000" spcFirstLastPara="1" vertOverflow="ellipsis" vert="horz" wrap="square" anchor="ctr" anchorCtr="1"/>
          <a:lstStyle/>
          <a:p>
            <a:pPr>
              <a:defRPr sz="900" b="0" i="0" u="none" strike="noStrike" kern="1200" baseline="0">
                <a:solidFill>
                  <a:schemeClr val="accent2"/>
                </a:solidFill>
                <a:latin typeface="+mn-lt"/>
                <a:ea typeface="+mn-ea"/>
                <a:cs typeface="+mn-cs"/>
              </a:defRPr>
            </a:pPr>
            <a:endParaRPr lang="fr-FR"/>
          </a:p>
        </c:txPr>
        <c:crossAx val="713114543"/>
        <c:crosses val="max"/>
        <c:crossBetween val="between"/>
      </c:valAx>
      <c:catAx>
        <c:axId val="713114543"/>
        <c:scaling>
          <c:orientation val="minMax"/>
        </c:scaling>
        <c:delete val="1"/>
        <c:axPos val="b"/>
        <c:numFmt formatCode="General" sourceLinked="1"/>
        <c:majorTickMark val="out"/>
        <c:minorTickMark val="none"/>
        <c:tickLblPos val="nextTo"/>
        <c:crossAx val="713124943"/>
        <c:crosses val="autoZero"/>
        <c:auto val="1"/>
        <c:lblAlgn val="ctr"/>
        <c:lblOffset val="100"/>
        <c:noMultiLvlLbl val="0"/>
      </c:cat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D0116-5454-4070-9234-7D0A21E45F6D}" type="datetimeFigureOut">
              <a:rPr lang="en-GB" smtClean="0"/>
              <a:t>28/09/2025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716C8-A1A8-4D65-9FF8-6E2A42D80611}" type="slidenum">
              <a:rPr lang="en-GB" smtClean="0"/>
              <a:t>‹N°›</a:t>
            </a:fld>
            <a:endParaRPr lang="en-GB"/>
          </a:p>
        </p:txBody>
      </p:sp>
    </p:spTree>
    <p:extLst>
      <p:ext uri="{BB962C8B-B14F-4D97-AF65-F5344CB8AC3E}">
        <p14:creationId xmlns:p14="http://schemas.microsoft.com/office/powerpoint/2010/main" val="15045306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1B3C70D-17C6-4EA9-92A8-867879A75012}" type="datetime1">
              <a:rPr lang="fr-FR" smtClean="0"/>
              <a:t>28/09/2025</a:t>
            </a:fld>
            <a:endParaRPr lang="en-GB"/>
          </a:p>
        </p:txBody>
      </p:sp>
      <p:sp>
        <p:nvSpPr>
          <p:cNvPr id="5" name="Footer Placeholder 4"/>
          <p:cNvSpPr>
            <a:spLocks noGrp="1"/>
          </p:cNvSpPr>
          <p:nvPr>
            <p:ph type="ftr" sz="quarter" idx="11"/>
          </p:nvPr>
        </p:nvSpPr>
        <p:spPr/>
        <p:txBody>
          <a:bodyPr/>
          <a:lstStyle/>
          <a:p>
            <a:r>
              <a:rPr lang="en-GB"/>
              <a:t>VDSM, Template GDR_MACS</a:t>
            </a:r>
          </a:p>
        </p:txBody>
      </p:sp>
      <p:sp>
        <p:nvSpPr>
          <p:cNvPr id="6" name="Slide Number Placeholder 5"/>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4288551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A57B45F-0C33-4BEE-B8C3-7711D61F81AD}" type="datetime1">
              <a:rPr lang="fr-FR" smtClean="0"/>
              <a:t>28/09/2025</a:t>
            </a:fld>
            <a:endParaRPr lang="en-GB"/>
          </a:p>
        </p:txBody>
      </p:sp>
      <p:sp>
        <p:nvSpPr>
          <p:cNvPr id="5" name="Footer Placeholder 4"/>
          <p:cNvSpPr>
            <a:spLocks noGrp="1"/>
          </p:cNvSpPr>
          <p:nvPr>
            <p:ph type="ftr" sz="quarter" idx="11"/>
          </p:nvPr>
        </p:nvSpPr>
        <p:spPr/>
        <p:txBody>
          <a:bodyPr/>
          <a:lstStyle/>
          <a:p>
            <a:r>
              <a:rPr lang="en-GB"/>
              <a:t>VDSM, Template GDR_MACS</a:t>
            </a:r>
          </a:p>
        </p:txBody>
      </p:sp>
      <p:sp>
        <p:nvSpPr>
          <p:cNvPr id="6" name="Slide Number Placeholder 5"/>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204010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B14A9CC-4FF9-45E0-96AD-06EF50AA74EA}" type="datetime1">
              <a:rPr lang="fr-FR" smtClean="0"/>
              <a:t>28/09/2025</a:t>
            </a:fld>
            <a:endParaRPr lang="en-GB"/>
          </a:p>
        </p:txBody>
      </p:sp>
      <p:sp>
        <p:nvSpPr>
          <p:cNvPr id="5" name="Footer Placeholder 4"/>
          <p:cNvSpPr>
            <a:spLocks noGrp="1"/>
          </p:cNvSpPr>
          <p:nvPr>
            <p:ph type="ftr" sz="quarter" idx="11"/>
          </p:nvPr>
        </p:nvSpPr>
        <p:spPr/>
        <p:txBody>
          <a:bodyPr/>
          <a:lstStyle/>
          <a:p>
            <a:r>
              <a:rPr lang="en-GB"/>
              <a:t>VDSM, Template GDR_MACS</a:t>
            </a:r>
          </a:p>
        </p:txBody>
      </p:sp>
      <p:sp>
        <p:nvSpPr>
          <p:cNvPr id="6" name="Slide Number Placeholder 5"/>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2798044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AE6CE43-8442-44A1-BFF5-8E4CF7C30BD3}" type="datetime1">
              <a:rPr lang="fr-FR" smtClean="0"/>
              <a:t>28/09/2025</a:t>
            </a:fld>
            <a:endParaRPr lang="en-GB"/>
          </a:p>
        </p:txBody>
      </p:sp>
      <p:sp>
        <p:nvSpPr>
          <p:cNvPr id="6" name="Footer Placeholder 5"/>
          <p:cNvSpPr>
            <a:spLocks noGrp="1"/>
          </p:cNvSpPr>
          <p:nvPr>
            <p:ph type="ftr" sz="quarter" idx="11"/>
          </p:nvPr>
        </p:nvSpPr>
        <p:spPr/>
        <p:txBody>
          <a:bodyPr/>
          <a:lstStyle/>
          <a:p>
            <a:r>
              <a:rPr lang="en-GB"/>
              <a:t>VDSM, Template GDR_MACS</a:t>
            </a:r>
          </a:p>
        </p:txBody>
      </p:sp>
      <p:sp>
        <p:nvSpPr>
          <p:cNvPr id="7" name="Slide Number Placeholder 6"/>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129063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6343C9C-CAD3-4A86-907C-8F2E535EBC80}" type="datetime1">
              <a:rPr lang="fr-FR" smtClean="0"/>
              <a:t>28/09/2025</a:t>
            </a:fld>
            <a:endParaRPr lang="en-GB"/>
          </a:p>
        </p:txBody>
      </p:sp>
      <p:sp>
        <p:nvSpPr>
          <p:cNvPr id="8" name="Footer Placeholder 7"/>
          <p:cNvSpPr>
            <a:spLocks noGrp="1"/>
          </p:cNvSpPr>
          <p:nvPr>
            <p:ph type="ftr" sz="quarter" idx="11"/>
          </p:nvPr>
        </p:nvSpPr>
        <p:spPr/>
        <p:txBody>
          <a:bodyPr/>
          <a:lstStyle/>
          <a:p>
            <a:r>
              <a:rPr lang="en-GB"/>
              <a:t>VDSM, Template GDR_MACS</a:t>
            </a:r>
          </a:p>
        </p:txBody>
      </p:sp>
      <p:sp>
        <p:nvSpPr>
          <p:cNvPr id="9" name="Slide Number Placeholder 8"/>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619700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6DE16C1-5D51-4B94-89BA-28EF7840817A}" type="datetime1">
              <a:rPr lang="fr-FR" smtClean="0"/>
              <a:t>28/09/2025</a:t>
            </a:fld>
            <a:endParaRPr lang="en-GB"/>
          </a:p>
        </p:txBody>
      </p:sp>
      <p:sp>
        <p:nvSpPr>
          <p:cNvPr id="4" name="Footer Placeholder 3"/>
          <p:cNvSpPr>
            <a:spLocks noGrp="1"/>
          </p:cNvSpPr>
          <p:nvPr>
            <p:ph type="ftr" sz="quarter" idx="11"/>
          </p:nvPr>
        </p:nvSpPr>
        <p:spPr/>
        <p:txBody>
          <a:bodyPr/>
          <a:lstStyle/>
          <a:p>
            <a:r>
              <a:rPr lang="en-GB"/>
              <a:t>VDSM, Template GDR_MACS</a:t>
            </a:r>
          </a:p>
        </p:txBody>
      </p:sp>
      <p:sp>
        <p:nvSpPr>
          <p:cNvPr id="5" name="Slide Number Placeholder 4"/>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250678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F900B9-AC00-4AE0-9929-ECF037E4D5DA}" type="datetime1">
              <a:rPr lang="fr-FR" smtClean="0"/>
              <a:t>28/09/2025</a:t>
            </a:fld>
            <a:endParaRPr lang="en-GB"/>
          </a:p>
        </p:txBody>
      </p:sp>
      <p:sp>
        <p:nvSpPr>
          <p:cNvPr id="3" name="Footer Placeholder 2"/>
          <p:cNvSpPr>
            <a:spLocks noGrp="1"/>
          </p:cNvSpPr>
          <p:nvPr>
            <p:ph type="ftr" sz="quarter" idx="11"/>
          </p:nvPr>
        </p:nvSpPr>
        <p:spPr/>
        <p:txBody>
          <a:bodyPr/>
          <a:lstStyle/>
          <a:p>
            <a:r>
              <a:rPr lang="en-GB"/>
              <a:t>VDSM, Template GDR_MACS</a:t>
            </a:r>
          </a:p>
        </p:txBody>
      </p:sp>
      <p:sp>
        <p:nvSpPr>
          <p:cNvPr id="4" name="Slide Number Placeholder 3"/>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35075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7B7FE2F-2B63-47B6-9F7C-BB4F760BAA41}" type="datetime1">
              <a:rPr lang="fr-FR" smtClean="0"/>
              <a:t>28/09/2025</a:t>
            </a:fld>
            <a:endParaRPr lang="en-GB"/>
          </a:p>
        </p:txBody>
      </p:sp>
      <p:sp>
        <p:nvSpPr>
          <p:cNvPr id="6" name="Footer Placeholder 5"/>
          <p:cNvSpPr>
            <a:spLocks noGrp="1"/>
          </p:cNvSpPr>
          <p:nvPr>
            <p:ph type="ftr" sz="quarter" idx="11"/>
          </p:nvPr>
        </p:nvSpPr>
        <p:spPr/>
        <p:txBody>
          <a:bodyPr/>
          <a:lstStyle/>
          <a:p>
            <a:r>
              <a:rPr lang="en-GB"/>
              <a:t>VDSM, Template GDR_MACS</a:t>
            </a:r>
          </a:p>
        </p:txBody>
      </p:sp>
      <p:sp>
        <p:nvSpPr>
          <p:cNvPr id="7" name="Slide Number Placeholder 6"/>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3570179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1272831-037A-4085-AC6C-D0DA7BB73C80}" type="datetime1">
              <a:rPr lang="fr-FR" smtClean="0"/>
              <a:t>28/09/2025</a:t>
            </a:fld>
            <a:endParaRPr lang="en-GB"/>
          </a:p>
        </p:txBody>
      </p:sp>
      <p:sp>
        <p:nvSpPr>
          <p:cNvPr id="6" name="Footer Placeholder 5"/>
          <p:cNvSpPr>
            <a:spLocks noGrp="1"/>
          </p:cNvSpPr>
          <p:nvPr>
            <p:ph type="ftr" sz="quarter" idx="11"/>
          </p:nvPr>
        </p:nvSpPr>
        <p:spPr/>
        <p:txBody>
          <a:bodyPr/>
          <a:lstStyle/>
          <a:p>
            <a:r>
              <a:rPr lang="en-GB"/>
              <a:t>VDSM, Template GDR_MACS</a:t>
            </a:r>
          </a:p>
        </p:txBody>
      </p:sp>
      <p:sp>
        <p:nvSpPr>
          <p:cNvPr id="7" name="Slide Number Placeholder 6"/>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596467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1F663CF-A4A1-42B6-A67E-4D38E2E708B3}" type="datetime1">
              <a:rPr lang="fr-FR" smtClean="0"/>
              <a:t>28/09/2025</a:t>
            </a:fld>
            <a:endParaRPr lang="en-GB"/>
          </a:p>
        </p:txBody>
      </p:sp>
      <p:sp>
        <p:nvSpPr>
          <p:cNvPr id="5" name="Footer Placeholder 4"/>
          <p:cNvSpPr>
            <a:spLocks noGrp="1"/>
          </p:cNvSpPr>
          <p:nvPr>
            <p:ph type="ftr" sz="quarter" idx="11"/>
          </p:nvPr>
        </p:nvSpPr>
        <p:spPr/>
        <p:txBody>
          <a:bodyPr/>
          <a:lstStyle/>
          <a:p>
            <a:r>
              <a:rPr lang="en-GB"/>
              <a:t>VDSM, Template GDR_MACS</a:t>
            </a:r>
          </a:p>
        </p:txBody>
      </p:sp>
      <p:sp>
        <p:nvSpPr>
          <p:cNvPr id="6" name="Slide Number Placeholder 5"/>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1270615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52E4F35-F3E5-4C85-A787-967189B8E097}" type="datetime1">
              <a:rPr lang="fr-FR" smtClean="0"/>
              <a:t>28/09/2025</a:t>
            </a:fld>
            <a:endParaRPr lang="en-GB"/>
          </a:p>
        </p:txBody>
      </p:sp>
      <p:sp>
        <p:nvSpPr>
          <p:cNvPr id="5" name="Footer Placeholder 4"/>
          <p:cNvSpPr>
            <a:spLocks noGrp="1"/>
          </p:cNvSpPr>
          <p:nvPr>
            <p:ph type="ftr" sz="quarter" idx="11"/>
          </p:nvPr>
        </p:nvSpPr>
        <p:spPr/>
        <p:txBody>
          <a:bodyPr/>
          <a:lstStyle/>
          <a:p>
            <a:r>
              <a:rPr lang="en-GB"/>
              <a:t>VDSM, Template GDR_MACS</a:t>
            </a:r>
          </a:p>
        </p:txBody>
      </p:sp>
      <p:sp>
        <p:nvSpPr>
          <p:cNvPr id="6" name="Slide Number Placeholder 5"/>
          <p:cNvSpPr>
            <a:spLocks noGrp="1"/>
          </p:cNvSpPr>
          <p:nvPr>
            <p:ph type="sldNum" sz="quarter" idx="12"/>
          </p:nvPr>
        </p:nvSpPr>
        <p:spPr/>
        <p:txBody>
          <a:bodyPr/>
          <a:lstStyle/>
          <a:p>
            <a:fld id="{F5EE1BAE-82EB-458C-93CA-8B4C6F78DB81}" type="slidenum">
              <a:rPr lang="en-GB" smtClean="0"/>
              <a:t>‹N°›</a:t>
            </a:fld>
            <a:endParaRPr lang="en-GB"/>
          </a:p>
        </p:txBody>
      </p:sp>
    </p:spTree>
    <p:extLst>
      <p:ext uri="{BB962C8B-B14F-4D97-AF65-F5344CB8AC3E}">
        <p14:creationId xmlns:p14="http://schemas.microsoft.com/office/powerpoint/2010/main" val="939899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E5EA014-1B64-4209-B769-0703C1659B2B}" type="datetime1">
              <a:rPr lang="fr-FR" smtClean="0"/>
              <a:t>28/09/2025</a:t>
            </a:fld>
            <a:endParaRPr lang="en-GB"/>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GB"/>
              <a:t>VDSM, Template GDR_MACS</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5EE1BAE-82EB-458C-93CA-8B4C6F78DB81}" type="slidenum">
              <a:rPr lang="en-GB" smtClean="0"/>
              <a:t>‹N°›</a:t>
            </a:fld>
            <a:endParaRPr lang="en-GB"/>
          </a:p>
        </p:txBody>
      </p:sp>
    </p:spTree>
    <p:extLst>
      <p:ext uri="{BB962C8B-B14F-4D97-AF65-F5344CB8AC3E}">
        <p14:creationId xmlns:p14="http://schemas.microsoft.com/office/powerpoint/2010/main" val="312136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021976" y="470646"/>
            <a:ext cx="7140389" cy="3096802"/>
          </a:xfrm>
          <a:solidFill>
            <a:srgbClr val="002060"/>
          </a:solidFill>
        </p:spPr>
        <p:txBody>
          <a:bodyPr anchor="b">
            <a:normAutofit/>
          </a:bodyPr>
          <a:lstStyle/>
          <a:p>
            <a:r>
              <a:rPr lang="fr-FR" sz="3200" b="1" dirty="0" smtClean="0">
                <a:solidFill>
                  <a:schemeClr val="bg1"/>
                </a:solidFill>
                <a:latin typeface="Cambria" panose="02040503050406030204" pitchFamily="18" charset="0"/>
                <a:ea typeface="Cambria" panose="02040503050406030204" pitchFamily="18" charset="0"/>
              </a:rPr>
              <a:t>Méthodes basées-données pour la commande et l’analyse des systèmes</a:t>
            </a:r>
            <a:r>
              <a:rPr lang="fr-FR" b="1" dirty="0">
                <a:solidFill>
                  <a:schemeClr val="bg1"/>
                </a:solidFill>
                <a:latin typeface="Cambria" panose="02040503050406030204" pitchFamily="18" charset="0"/>
                <a:ea typeface="Cambria" panose="02040503050406030204" pitchFamily="18" charset="0"/>
              </a:rPr>
              <a:t/>
            </a:r>
            <a:br>
              <a:rPr lang="fr-FR" b="1" dirty="0">
                <a:solidFill>
                  <a:schemeClr val="bg1"/>
                </a:solidFill>
                <a:latin typeface="Cambria" panose="02040503050406030204" pitchFamily="18" charset="0"/>
                <a:ea typeface="Cambria" panose="02040503050406030204" pitchFamily="18" charset="0"/>
              </a:rPr>
            </a:br>
            <a:r>
              <a:rPr lang="fr-FR" sz="2400" b="1" dirty="0" smtClean="0">
                <a:solidFill>
                  <a:schemeClr val="bg1"/>
                </a:solidFill>
                <a:latin typeface="Cambria" panose="02040503050406030204" pitchFamily="18" charset="0"/>
                <a:ea typeface="Cambria" panose="02040503050406030204" pitchFamily="18" charset="0"/>
              </a:rPr>
              <a:t>Action GDR MACS</a:t>
            </a:r>
            <a:r>
              <a:rPr lang="en-US" sz="2100" b="1" dirty="0">
                <a:solidFill>
                  <a:schemeClr val="bg1"/>
                </a:solidFill>
              </a:rPr>
              <a:t/>
            </a:r>
            <a:br>
              <a:rPr lang="en-US" sz="2100" b="1" dirty="0">
                <a:solidFill>
                  <a:schemeClr val="bg1"/>
                </a:solidFill>
              </a:rPr>
            </a:br>
            <a:endParaRPr lang="en-GB" sz="2100" b="1" i="1" dirty="0">
              <a:solidFill>
                <a:schemeClr val="bg1"/>
              </a:solidFill>
              <a:latin typeface="Cambria" panose="02040503050406030204" pitchFamily="18" charset="0"/>
              <a:ea typeface="Cambria" panose="02040503050406030204" pitchFamily="18" charset="0"/>
            </a:endParaRPr>
          </a:p>
        </p:txBody>
      </p:sp>
      <p:sp>
        <p:nvSpPr>
          <p:cNvPr id="3" name="Sous-titre 2"/>
          <p:cNvSpPr>
            <a:spLocks noGrp="1"/>
          </p:cNvSpPr>
          <p:nvPr>
            <p:ph type="subTitle" idx="1"/>
          </p:nvPr>
        </p:nvSpPr>
        <p:spPr>
          <a:xfrm>
            <a:off x="1021976" y="3387144"/>
            <a:ext cx="7140389" cy="1195600"/>
          </a:xfrm>
          <a:solidFill>
            <a:srgbClr val="002060"/>
          </a:solidFill>
        </p:spPr>
        <p:txBody>
          <a:bodyPr anchor="ctr">
            <a:normAutofit/>
          </a:bodyPr>
          <a:lstStyle/>
          <a:p>
            <a:pPr>
              <a:lnSpc>
                <a:spcPct val="120000"/>
              </a:lnSpc>
              <a:spcBef>
                <a:spcPts val="300"/>
              </a:spcBef>
            </a:pPr>
            <a:r>
              <a:rPr lang="fr-FR" sz="2175" dirty="0" smtClean="0">
                <a:solidFill>
                  <a:schemeClr val="bg1"/>
                </a:solidFill>
              </a:rPr>
              <a:t>30 septembre et 1</a:t>
            </a:r>
            <a:r>
              <a:rPr lang="fr-FR" sz="2175" baseline="30000" dirty="0" smtClean="0">
                <a:solidFill>
                  <a:schemeClr val="bg1"/>
                </a:solidFill>
              </a:rPr>
              <a:t>er</a:t>
            </a:r>
            <a:r>
              <a:rPr lang="fr-FR" sz="2175" dirty="0" smtClean="0">
                <a:solidFill>
                  <a:schemeClr val="bg1"/>
                </a:solidFill>
              </a:rPr>
              <a:t> octobre </a:t>
            </a:r>
            <a:r>
              <a:rPr lang="fr-FR" sz="2175" dirty="0">
                <a:solidFill>
                  <a:schemeClr val="bg1"/>
                </a:solidFill>
              </a:rPr>
              <a:t>2025</a:t>
            </a: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17459" t="25146" r="17175" b="23815"/>
          <a:stretch/>
        </p:blipFill>
        <p:spPr>
          <a:xfrm>
            <a:off x="258776" y="221485"/>
            <a:ext cx="2877504" cy="865940"/>
          </a:xfrm>
          <a:prstGeom prst="rect">
            <a:avLst/>
          </a:prstGeom>
        </p:spPr>
      </p:pic>
    </p:spTree>
    <p:extLst>
      <p:ext uri="{BB962C8B-B14F-4D97-AF65-F5344CB8AC3E}">
        <p14:creationId xmlns:p14="http://schemas.microsoft.com/office/powerpoint/2010/main" val="2200203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21975" y="328468"/>
            <a:ext cx="7776337" cy="1185311"/>
          </a:xfrm>
          <a:solidFill>
            <a:srgbClr val="002060"/>
          </a:solidFill>
        </p:spPr>
        <p:txBody>
          <a:bodyPr>
            <a:normAutofit/>
          </a:bodyPr>
          <a:lstStyle/>
          <a:p>
            <a:pPr algn="r">
              <a:spcBef>
                <a:spcPts val="900"/>
              </a:spcBef>
            </a:pPr>
            <a:r>
              <a:rPr lang="fr-FR" sz="3600" b="1" dirty="0" smtClean="0">
                <a:solidFill>
                  <a:schemeClr val="bg1"/>
                </a:solidFill>
                <a:latin typeface="Cambria" panose="02040503050406030204" pitchFamily="18" charset="0"/>
                <a:ea typeface="Cambria" panose="02040503050406030204" pitchFamily="18" charset="0"/>
              </a:rPr>
              <a:t>Pourquoi cette action?</a:t>
            </a:r>
            <a:endParaRPr lang="fr-FR" sz="2700" b="1" i="1" dirty="0">
              <a:solidFill>
                <a:srgbClr val="AF47BC"/>
              </a:solidFill>
              <a:latin typeface="Cambria" panose="02040503050406030204" pitchFamily="18" charset="0"/>
              <a:ea typeface="Cambria" panose="02040503050406030204" pitchFamily="18" charset="0"/>
            </a:endParaRP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17459" t="25146" r="17175" b="23815"/>
          <a:stretch/>
        </p:blipFill>
        <p:spPr>
          <a:xfrm>
            <a:off x="258776" y="221485"/>
            <a:ext cx="2877504" cy="865940"/>
          </a:xfrm>
          <a:prstGeom prst="rect">
            <a:avLst/>
          </a:prstGeom>
        </p:spPr>
      </p:pic>
      <p:sp>
        <p:nvSpPr>
          <p:cNvPr id="9" name="Espace réservé du contenu 2">
            <a:extLst>
              <a:ext uri="{FF2B5EF4-FFF2-40B4-BE49-F238E27FC236}">
                <a16:creationId xmlns:a16="http://schemas.microsoft.com/office/drawing/2014/main" id="{C5184484-8BA0-DD42-8F4B-F6DD67CE8E0B}"/>
              </a:ext>
            </a:extLst>
          </p:cNvPr>
          <p:cNvSpPr txBox="1">
            <a:spLocks/>
          </p:cNvSpPr>
          <p:nvPr/>
        </p:nvSpPr>
        <p:spPr>
          <a:xfrm>
            <a:off x="1021976" y="1779635"/>
            <a:ext cx="7776335" cy="3263504"/>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AF47BC"/>
              </a:buClr>
              <a:buSzPct val="100000"/>
              <a:buFont typeface="Wingdings" panose="05000000000000000000" pitchFamily="2" charset="2"/>
              <a:buChar char="§"/>
            </a:pPr>
            <a:endParaRPr lang="fr-FR" sz="1800" dirty="0">
              <a:solidFill>
                <a:srgbClr val="002060"/>
              </a:solidFill>
            </a:endParaRPr>
          </a:p>
        </p:txBody>
      </p:sp>
      <p:graphicFrame>
        <p:nvGraphicFramePr>
          <p:cNvPr id="7" name="Graphique 6"/>
          <p:cNvGraphicFramePr>
            <a:graphicFrameLocks/>
          </p:cNvGraphicFramePr>
          <p:nvPr>
            <p:extLst>
              <p:ext uri="{D42A27DB-BD31-4B8C-83A1-F6EECF244321}">
                <p14:modId xmlns:p14="http://schemas.microsoft.com/office/powerpoint/2010/main" val="2361637798"/>
              </p:ext>
            </p:extLst>
          </p:nvPr>
        </p:nvGraphicFramePr>
        <p:xfrm>
          <a:off x="2105952" y="1513779"/>
          <a:ext cx="5651860" cy="3166362"/>
        </p:xfrm>
        <a:graphic>
          <a:graphicData uri="http://schemas.openxmlformats.org/drawingml/2006/chart">
            <c:chart xmlns:c="http://schemas.openxmlformats.org/drawingml/2006/chart" xmlns:r="http://schemas.openxmlformats.org/officeDocument/2006/relationships" r:id="rId3"/>
          </a:graphicData>
        </a:graphic>
      </p:graphicFrame>
      <p:sp>
        <p:nvSpPr>
          <p:cNvPr id="11" name="ZoneTexte 1"/>
          <p:cNvSpPr txBox="1"/>
          <p:nvPr/>
        </p:nvSpPr>
        <p:spPr>
          <a:xfrm>
            <a:off x="2450789" y="4726970"/>
            <a:ext cx="4918708" cy="287150"/>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fr-FR" sz="1400" b="1" dirty="0" smtClean="0"/>
              <a:t>Publications </a:t>
            </a:r>
            <a:r>
              <a:rPr lang="fr-FR" sz="1400" b="1" dirty="0" err="1" smtClean="0"/>
              <a:t>with</a:t>
            </a:r>
            <a:r>
              <a:rPr lang="fr-FR" sz="1400" b="1" dirty="0" smtClean="0"/>
              <a:t> topic « data-</a:t>
            </a:r>
            <a:r>
              <a:rPr lang="fr-FR" sz="1400" b="1" dirty="0" err="1" smtClean="0"/>
              <a:t>driven</a:t>
            </a:r>
            <a:r>
              <a:rPr lang="fr-FR" sz="1400" b="1" dirty="0" smtClean="0"/>
              <a:t> control » (Web of Science)</a:t>
            </a:r>
            <a:endParaRPr lang="fr-FR" sz="1400" b="1" dirty="0"/>
          </a:p>
        </p:txBody>
      </p:sp>
    </p:spTree>
    <p:extLst>
      <p:ext uri="{BB962C8B-B14F-4D97-AF65-F5344CB8AC3E}">
        <p14:creationId xmlns:p14="http://schemas.microsoft.com/office/powerpoint/2010/main" val="405849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21975" y="328468"/>
            <a:ext cx="7776337" cy="1185311"/>
          </a:xfrm>
          <a:solidFill>
            <a:srgbClr val="002060"/>
          </a:solidFill>
        </p:spPr>
        <p:txBody>
          <a:bodyPr>
            <a:normAutofit/>
          </a:bodyPr>
          <a:lstStyle/>
          <a:p>
            <a:pPr algn="r">
              <a:spcBef>
                <a:spcPts val="900"/>
              </a:spcBef>
            </a:pPr>
            <a:r>
              <a:rPr lang="fr-FR" sz="3600" b="1" dirty="0" smtClean="0">
                <a:solidFill>
                  <a:schemeClr val="bg1"/>
                </a:solidFill>
                <a:latin typeface="Cambria" panose="02040503050406030204" pitchFamily="18" charset="0"/>
                <a:ea typeface="Cambria" panose="02040503050406030204" pitchFamily="18" charset="0"/>
              </a:rPr>
              <a:t>Programme 30/09</a:t>
            </a:r>
            <a:endParaRPr lang="fr-FR" sz="2700" b="1" i="1" dirty="0">
              <a:solidFill>
                <a:srgbClr val="AF47BC"/>
              </a:solidFill>
              <a:latin typeface="Cambria" panose="02040503050406030204" pitchFamily="18" charset="0"/>
              <a:ea typeface="Cambria" panose="02040503050406030204" pitchFamily="18" charset="0"/>
            </a:endParaRP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17459" t="25146" r="17175" b="23815"/>
          <a:stretch/>
        </p:blipFill>
        <p:spPr>
          <a:xfrm>
            <a:off x="258776" y="221485"/>
            <a:ext cx="2877504" cy="865940"/>
          </a:xfrm>
          <a:prstGeom prst="rect">
            <a:avLst/>
          </a:prstGeom>
        </p:spPr>
      </p:pic>
      <p:sp>
        <p:nvSpPr>
          <p:cNvPr id="9" name="Espace réservé du contenu 2">
            <a:extLst>
              <a:ext uri="{FF2B5EF4-FFF2-40B4-BE49-F238E27FC236}">
                <a16:creationId xmlns:a16="http://schemas.microsoft.com/office/drawing/2014/main" id="{C5184484-8BA0-DD42-8F4B-F6DD67CE8E0B}"/>
              </a:ext>
            </a:extLst>
          </p:cNvPr>
          <p:cNvSpPr txBox="1">
            <a:spLocks/>
          </p:cNvSpPr>
          <p:nvPr/>
        </p:nvSpPr>
        <p:spPr>
          <a:xfrm>
            <a:off x="1021976" y="1779635"/>
            <a:ext cx="7776335" cy="3263504"/>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AF47BC"/>
              </a:buClr>
              <a:buSzPct val="100000"/>
              <a:buFont typeface="Wingdings" panose="05000000000000000000" pitchFamily="2" charset="2"/>
              <a:buChar char="§"/>
            </a:pPr>
            <a:endParaRPr lang="fr-FR" sz="1800" dirty="0">
              <a:solidFill>
                <a:srgbClr val="002060"/>
              </a:solidFill>
            </a:endParaRPr>
          </a:p>
        </p:txBody>
      </p:sp>
      <p:sp>
        <p:nvSpPr>
          <p:cNvPr id="3" name="ZoneTexte 2"/>
          <p:cNvSpPr txBox="1"/>
          <p:nvPr/>
        </p:nvSpPr>
        <p:spPr>
          <a:xfrm>
            <a:off x="258776" y="1503886"/>
            <a:ext cx="8539535" cy="3416320"/>
          </a:xfrm>
          <a:prstGeom prst="rect">
            <a:avLst/>
          </a:prstGeom>
          <a:noFill/>
        </p:spPr>
        <p:txBody>
          <a:bodyPr wrap="square" rtlCol="0">
            <a:spAutoFit/>
          </a:bodyPr>
          <a:lstStyle/>
          <a:p>
            <a:r>
              <a:rPr lang="fr-FR" b="1" dirty="0" smtClean="0"/>
              <a:t>Session 1 (14h-15h30)</a:t>
            </a:r>
          </a:p>
          <a:p>
            <a:pPr marL="285750" indent="-285750">
              <a:buFont typeface="Arial" panose="020B0604020202020204" pitchFamily="34" charset="0"/>
              <a:buChar char="•"/>
            </a:pPr>
            <a:r>
              <a:rPr lang="fr-FR" dirty="0" smtClean="0"/>
              <a:t>Cédric </a:t>
            </a:r>
            <a:r>
              <a:rPr lang="fr-FR" dirty="0" err="1" smtClean="0"/>
              <a:t>Join</a:t>
            </a:r>
            <a:r>
              <a:rPr lang="fr-FR" dirty="0"/>
              <a:t> </a:t>
            </a:r>
            <a:r>
              <a:rPr lang="fr-FR" dirty="0" smtClean="0"/>
              <a:t>- Commande </a:t>
            </a:r>
            <a:r>
              <a:rPr lang="fr-FR" dirty="0"/>
              <a:t>sans modèle et à modèle </a:t>
            </a:r>
            <a:r>
              <a:rPr lang="fr-FR" dirty="0" smtClean="0"/>
              <a:t>partiel</a:t>
            </a:r>
          </a:p>
          <a:p>
            <a:pPr marL="285750" indent="-285750">
              <a:buFont typeface="Arial" panose="020B0604020202020204" pitchFamily="34" charset="0"/>
              <a:buChar char="•"/>
            </a:pPr>
            <a:r>
              <a:rPr lang="en-GB" dirty="0" smtClean="0"/>
              <a:t>Michel </a:t>
            </a:r>
            <a:r>
              <a:rPr lang="en-GB" dirty="0" err="1"/>
              <a:t>Fliess</a:t>
            </a:r>
            <a:r>
              <a:rPr lang="en-GB" dirty="0"/>
              <a:t> </a:t>
            </a:r>
            <a:r>
              <a:rPr lang="en-GB" dirty="0" smtClean="0"/>
              <a:t> - Toward </a:t>
            </a:r>
            <a:r>
              <a:rPr lang="en-GB" dirty="0"/>
              <a:t>Model-Free Predictive Control: Possible Connections with </a:t>
            </a:r>
            <a:r>
              <a:rPr lang="en-GB" dirty="0" smtClean="0"/>
              <a:t>AI.</a:t>
            </a:r>
            <a:endParaRPr lang="fr-FR" dirty="0"/>
          </a:p>
          <a:p>
            <a:pPr marL="285750" indent="-285750">
              <a:buFont typeface="Arial" panose="020B0604020202020204" pitchFamily="34" charset="0"/>
              <a:buChar char="•"/>
            </a:pPr>
            <a:r>
              <a:rPr lang="en-GB" dirty="0" smtClean="0"/>
              <a:t>Jean-Philippe </a:t>
            </a:r>
            <a:r>
              <a:rPr lang="en-GB" dirty="0" err="1"/>
              <a:t>Condomines</a:t>
            </a:r>
            <a:r>
              <a:rPr lang="en-GB" dirty="0"/>
              <a:t> </a:t>
            </a:r>
            <a:r>
              <a:rPr lang="en-GB" dirty="0" smtClean="0"/>
              <a:t> - Restricted </a:t>
            </a:r>
            <a:r>
              <a:rPr lang="en-GB" dirty="0"/>
              <a:t>Model-Free </a:t>
            </a:r>
            <a:r>
              <a:rPr lang="en-GB" dirty="0" smtClean="0"/>
              <a:t>Control</a:t>
            </a:r>
          </a:p>
          <a:p>
            <a:endParaRPr lang="en-GB" dirty="0"/>
          </a:p>
          <a:p>
            <a:r>
              <a:rPr lang="en-GB" b="1" dirty="0" smtClean="0"/>
              <a:t>Session 2 </a:t>
            </a:r>
            <a:r>
              <a:rPr lang="fr-FR" b="1" dirty="0"/>
              <a:t>(</a:t>
            </a:r>
            <a:r>
              <a:rPr lang="fr-FR" b="1" dirty="0" smtClean="0"/>
              <a:t>16h-18h15)</a:t>
            </a:r>
            <a:endParaRPr lang="en-GB" b="1" dirty="0" smtClean="0"/>
          </a:p>
          <a:p>
            <a:pPr marL="285750" indent="-285750">
              <a:buFont typeface="Arial" panose="020B0604020202020204" pitchFamily="34" charset="0"/>
              <a:buChar char="•"/>
            </a:pPr>
            <a:r>
              <a:rPr lang="en-GB" dirty="0" smtClean="0"/>
              <a:t>Antoine Girard - Safe </a:t>
            </a:r>
            <a:r>
              <a:rPr lang="en-GB" dirty="0"/>
              <a:t>learning-based nonlinear model predictive control using data-driven set-valued </a:t>
            </a:r>
            <a:r>
              <a:rPr lang="en-GB" dirty="0" smtClean="0"/>
              <a:t>models</a:t>
            </a:r>
          </a:p>
          <a:p>
            <a:pPr marL="285750" indent="-285750">
              <a:buFont typeface="Arial" panose="020B0604020202020204" pitchFamily="34" charset="0"/>
              <a:buChar char="•"/>
            </a:pPr>
            <a:r>
              <a:rPr lang="en-GB" dirty="0" err="1" smtClean="0"/>
              <a:t>Mayank</a:t>
            </a:r>
            <a:r>
              <a:rPr lang="en-GB" dirty="0" smtClean="0"/>
              <a:t> </a:t>
            </a:r>
            <a:r>
              <a:rPr lang="en-GB" dirty="0" err="1"/>
              <a:t>Jha</a:t>
            </a:r>
            <a:r>
              <a:rPr lang="en-GB" dirty="0"/>
              <a:t> </a:t>
            </a:r>
            <a:r>
              <a:rPr lang="en-GB" dirty="0" smtClean="0"/>
              <a:t>- Safe </a:t>
            </a:r>
            <a:r>
              <a:rPr lang="en-GB" dirty="0"/>
              <a:t>Reinforcement Learning with provable guarantees: Recent </a:t>
            </a:r>
            <a:r>
              <a:rPr lang="en-GB" dirty="0" smtClean="0"/>
              <a:t>Advancements</a:t>
            </a:r>
          </a:p>
          <a:p>
            <a:pPr marL="285750" indent="-285750">
              <a:buFont typeface="Arial" panose="020B0604020202020204" pitchFamily="34" charset="0"/>
              <a:buChar char="•"/>
            </a:pPr>
            <a:r>
              <a:rPr lang="en-GB" dirty="0" err="1" smtClean="0"/>
              <a:t>Oumayma</a:t>
            </a:r>
            <a:r>
              <a:rPr lang="en-GB" dirty="0" smtClean="0"/>
              <a:t> </a:t>
            </a:r>
            <a:r>
              <a:rPr lang="en-GB" dirty="0" err="1" smtClean="0"/>
              <a:t>Khattabi</a:t>
            </a:r>
            <a:r>
              <a:rPr lang="en-GB" dirty="0"/>
              <a:t> </a:t>
            </a:r>
            <a:r>
              <a:rPr lang="en-GB" dirty="0" smtClean="0"/>
              <a:t>- Data-driven </a:t>
            </a:r>
            <a:r>
              <a:rPr lang="en-GB" dirty="0"/>
              <a:t>stability analysis</a:t>
            </a:r>
            <a:endParaRPr lang="fr-FR" dirty="0"/>
          </a:p>
          <a:p>
            <a:pPr marL="285750" indent="-285750">
              <a:buFont typeface="Arial" panose="020B0604020202020204" pitchFamily="34" charset="0"/>
              <a:buChar char="•"/>
            </a:pPr>
            <a:r>
              <a:rPr lang="en-GB" dirty="0" smtClean="0"/>
              <a:t>Riccardo </a:t>
            </a:r>
            <a:r>
              <a:rPr lang="en-GB" dirty="0" err="1" smtClean="0"/>
              <a:t>Bonalli</a:t>
            </a:r>
            <a:r>
              <a:rPr lang="en-GB" dirty="0"/>
              <a:t> </a:t>
            </a:r>
            <a:r>
              <a:rPr lang="en-GB" dirty="0" smtClean="0"/>
              <a:t>- Safely </a:t>
            </a:r>
            <a:r>
              <a:rPr lang="en-GB" dirty="0"/>
              <a:t>Learning Controlled Stochastic </a:t>
            </a:r>
            <a:r>
              <a:rPr lang="en-GB" dirty="0" smtClean="0"/>
              <a:t>Dynamics</a:t>
            </a:r>
            <a:endParaRPr lang="fr-FR" sz="1600" dirty="0"/>
          </a:p>
        </p:txBody>
      </p:sp>
    </p:spTree>
    <p:extLst>
      <p:ext uri="{BB962C8B-B14F-4D97-AF65-F5344CB8AC3E}">
        <p14:creationId xmlns:p14="http://schemas.microsoft.com/office/powerpoint/2010/main" val="25848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21975" y="328468"/>
            <a:ext cx="7776337" cy="1185311"/>
          </a:xfrm>
          <a:solidFill>
            <a:srgbClr val="002060"/>
          </a:solidFill>
        </p:spPr>
        <p:txBody>
          <a:bodyPr>
            <a:normAutofit/>
          </a:bodyPr>
          <a:lstStyle/>
          <a:p>
            <a:pPr algn="r">
              <a:spcBef>
                <a:spcPts val="900"/>
              </a:spcBef>
            </a:pPr>
            <a:r>
              <a:rPr lang="fr-FR" sz="3600" b="1" dirty="0" smtClean="0">
                <a:solidFill>
                  <a:schemeClr val="bg1"/>
                </a:solidFill>
                <a:latin typeface="Cambria" panose="02040503050406030204" pitchFamily="18" charset="0"/>
                <a:ea typeface="Cambria" panose="02040503050406030204" pitchFamily="18" charset="0"/>
              </a:rPr>
              <a:t>Programme 01/10</a:t>
            </a:r>
            <a:endParaRPr lang="fr-FR" sz="2700" b="1" i="1" dirty="0">
              <a:solidFill>
                <a:srgbClr val="AF47BC"/>
              </a:solidFill>
              <a:latin typeface="Cambria" panose="02040503050406030204" pitchFamily="18" charset="0"/>
              <a:ea typeface="Cambria" panose="02040503050406030204" pitchFamily="18" charset="0"/>
            </a:endParaRP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17459" t="25146" r="17175" b="23815"/>
          <a:stretch/>
        </p:blipFill>
        <p:spPr>
          <a:xfrm>
            <a:off x="258776" y="221485"/>
            <a:ext cx="2877504" cy="865940"/>
          </a:xfrm>
          <a:prstGeom prst="rect">
            <a:avLst/>
          </a:prstGeom>
        </p:spPr>
      </p:pic>
      <p:sp>
        <p:nvSpPr>
          <p:cNvPr id="9" name="Espace réservé du contenu 2">
            <a:extLst>
              <a:ext uri="{FF2B5EF4-FFF2-40B4-BE49-F238E27FC236}">
                <a16:creationId xmlns:a16="http://schemas.microsoft.com/office/drawing/2014/main" id="{C5184484-8BA0-DD42-8F4B-F6DD67CE8E0B}"/>
              </a:ext>
            </a:extLst>
          </p:cNvPr>
          <p:cNvSpPr txBox="1">
            <a:spLocks/>
          </p:cNvSpPr>
          <p:nvPr/>
        </p:nvSpPr>
        <p:spPr>
          <a:xfrm>
            <a:off x="1021976" y="1779635"/>
            <a:ext cx="7776335" cy="3263504"/>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AF47BC"/>
              </a:buClr>
              <a:buSzPct val="100000"/>
              <a:buFont typeface="Wingdings" panose="05000000000000000000" pitchFamily="2" charset="2"/>
              <a:buChar char="§"/>
            </a:pPr>
            <a:endParaRPr lang="fr-FR" sz="1800" dirty="0">
              <a:solidFill>
                <a:srgbClr val="002060"/>
              </a:solidFill>
            </a:endParaRPr>
          </a:p>
        </p:txBody>
      </p:sp>
      <p:sp>
        <p:nvSpPr>
          <p:cNvPr id="3" name="ZoneTexte 2"/>
          <p:cNvSpPr txBox="1"/>
          <p:nvPr/>
        </p:nvSpPr>
        <p:spPr>
          <a:xfrm>
            <a:off x="258776" y="1482173"/>
            <a:ext cx="8539535" cy="3693319"/>
          </a:xfrm>
          <a:prstGeom prst="rect">
            <a:avLst/>
          </a:prstGeom>
          <a:noFill/>
        </p:spPr>
        <p:txBody>
          <a:bodyPr wrap="square" rtlCol="0">
            <a:spAutoFit/>
          </a:bodyPr>
          <a:lstStyle/>
          <a:p>
            <a:r>
              <a:rPr lang="fr-FR" b="1" dirty="0" smtClean="0"/>
              <a:t>Session 3 (9h-10h30)</a:t>
            </a:r>
          </a:p>
          <a:p>
            <a:pPr marL="285750" indent="-285750">
              <a:buFont typeface="Arial" panose="020B0604020202020204" pitchFamily="34" charset="0"/>
              <a:buChar char="•"/>
            </a:pPr>
            <a:r>
              <a:rPr lang="en-GB" dirty="0" smtClean="0"/>
              <a:t>Stanislav </a:t>
            </a:r>
            <a:r>
              <a:rPr lang="en-GB" dirty="0" err="1" smtClean="0"/>
              <a:t>Aranovskiy</a:t>
            </a:r>
            <a:r>
              <a:rPr lang="en-GB" dirty="0"/>
              <a:t> </a:t>
            </a:r>
            <a:r>
              <a:rPr lang="en-GB" dirty="0" smtClean="0"/>
              <a:t>- Dataset </a:t>
            </a:r>
            <a:r>
              <a:rPr lang="en-GB" dirty="0"/>
              <a:t>Management in Data-Enabled Predictive Control</a:t>
            </a:r>
            <a:endParaRPr lang="fr-FR" dirty="0"/>
          </a:p>
          <a:p>
            <a:pPr marL="285750" indent="-285750">
              <a:buFont typeface="Arial" panose="020B0604020202020204" pitchFamily="34" charset="0"/>
              <a:buChar char="•"/>
            </a:pPr>
            <a:r>
              <a:rPr lang="en-GB" dirty="0" smtClean="0"/>
              <a:t>Pauline </a:t>
            </a:r>
            <a:r>
              <a:rPr lang="en-GB" dirty="0"/>
              <a:t>Kergus </a:t>
            </a:r>
            <a:r>
              <a:rPr lang="en-GB" dirty="0" smtClean="0"/>
              <a:t>- Data-driven </a:t>
            </a:r>
            <a:r>
              <a:rPr lang="en-GB" dirty="0"/>
              <a:t>controller design in the </a:t>
            </a:r>
            <a:r>
              <a:rPr lang="en-GB" dirty="0" err="1"/>
              <a:t>Loewner</a:t>
            </a:r>
            <a:r>
              <a:rPr lang="en-GB" dirty="0"/>
              <a:t> </a:t>
            </a:r>
            <a:r>
              <a:rPr lang="en-GB" dirty="0" smtClean="0"/>
              <a:t>framework</a:t>
            </a:r>
          </a:p>
          <a:p>
            <a:pPr marL="285750" indent="-285750">
              <a:buFont typeface="Arial" panose="020B0604020202020204" pitchFamily="34" charset="0"/>
              <a:buChar char="•"/>
            </a:pPr>
            <a:r>
              <a:rPr lang="en-GB" dirty="0" smtClean="0"/>
              <a:t>Charles </a:t>
            </a:r>
            <a:r>
              <a:rPr lang="en-GB" dirty="0" err="1"/>
              <a:t>Poussot</a:t>
            </a:r>
            <a:r>
              <a:rPr lang="en-GB" dirty="0"/>
              <a:t>-Vassal </a:t>
            </a:r>
            <a:r>
              <a:rPr lang="en-GB" dirty="0" smtClean="0"/>
              <a:t>- The </a:t>
            </a:r>
            <a:r>
              <a:rPr lang="en-GB" dirty="0" err="1"/>
              <a:t>Loewner</a:t>
            </a:r>
            <a:r>
              <a:rPr lang="en-GB" dirty="0"/>
              <a:t> Framework, the Kolmogorov Superposition Theorem and the Curse of Dimensionality</a:t>
            </a:r>
            <a:endParaRPr lang="fr-FR" dirty="0"/>
          </a:p>
          <a:p>
            <a:endParaRPr lang="en-GB" dirty="0" smtClean="0"/>
          </a:p>
          <a:p>
            <a:r>
              <a:rPr lang="en-GB" b="1" dirty="0" smtClean="0"/>
              <a:t>Session 4 (11h-12h30)</a:t>
            </a:r>
          </a:p>
          <a:p>
            <a:pPr marL="285750" indent="-285750">
              <a:buFont typeface="Arial" panose="020B0604020202020204" pitchFamily="34" charset="0"/>
              <a:buChar char="•"/>
            </a:pPr>
            <a:r>
              <a:rPr lang="en-GB" dirty="0" err="1" smtClean="0"/>
              <a:t>Romain</a:t>
            </a:r>
            <a:r>
              <a:rPr lang="en-GB" dirty="0" smtClean="0"/>
              <a:t> </a:t>
            </a:r>
            <a:r>
              <a:rPr lang="en-GB" dirty="0" err="1" smtClean="0"/>
              <a:t>Postoyan</a:t>
            </a:r>
            <a:r>
              <a:rPr lang="en-GB" dirty="0"/>
              <a:t> </a:t>
            </a:r>
            <a:r>
              <a:rPr lang="en-GB" dirty="0" smtClean="0"/>
              <a:t>- A </a:t>
            </a:r>
            <a:r>
              <a:rPr lang="en-GB" dirty="0"/>
              <a:t>hybrid systems framework for data-based adaptive control of linear time-varying systems</a:t>
            </a:r>
            <a:endParaRPr lang="fr-FR" dirty="0"/>
          </a:p>
          <a:p>
            <a:pPr marL="285750" indent="-285750">
              <a:buFont typeface="Arial" panose="020B0604020202020204" pitchFamily="34" charset="0"/>
              <a:buChar char="•"/>
            </a:pPr>
            <a:r>
              <a:rPr lang="en-GB" dirty="0" smtClean="0"/>
              <a:t>Vincent </a:t>
            </a:r>
            <a:r>
              <a:rPr lang="en-GB" dirty="0" err="1"/>
              <a:t>Andrieu</a:t>
            </a:r>
            <a:r>
              <a:rPr lang="en-GB" dirty="0"/>
              <a:t> </a:t>
            </a:r>
            <a:r>
              <a:rPr lang="en-GB" dirty="0" smtClean="0"/>
              <a:t>- A </a:t>
            </a:r>
            <a:r>
              <a:rPr lang="en-GB" dirty="0"/>
              <a:t>nonlinear KKL framework for theoretical analysis and guarantees of neural network observers</a:t>
            </a:r>
            <a:endParaRPr lang="fr-FR" dirty="0"/>
          </a:p>
          <a:p>
            <a:pPr marL="285750" indent="-285750">
              <a:buFont typeface="Arial" panose="020B0604020202020204" pitchFamily="34" charset="0"/>
              <a:buChar char="•"/>
            </a:pPr>
            <a:r>
              <a:rPr lang="en-GB" dirty="0" err="1" smtClean="0"/>
              <a:t>Moein</a:t>
            </a:r>
            <a:r>
              <a:rPr lang="en-GB" dirty="0" smtClean="0"/>
              <a:t> </a:t>
            </a:r>
            <a:r>
              <a:rPr lang="en-GB" dirty="0"/>
              <a:t>Sarbandi </a:t>
            </a:r>
            <a:r>
              <a:rPr lang="en-GB" dirty="0" smtClean="0"/>
              <a:t>- Data-Based </a:t>
            </a:r>
            <a:r>
              <a:rPr lang="en-GB" dirty="0"/>
              <a:t>Sliding Mode Control - Application to Floating Offshore Wind </a:t>
            </a:r>
            <a:r>
              <a:rPr lang="en-GB" dirty="0" smtClean="0"/>
              <a:t>Turbines</a:t>
            </a:r>
            <a:endParaRPr lang="fr-FR" dirty="0"/>
          </a:p>
        </p:txBody>
      </p:sp>
    </p:spTree>
    <p:extLst>
      <p:ext uri="{BB962C8B-B14F-4D97-AF65-F5344CB8AC3E}">
        <p14:creationId xmlns:p14="http://schemas.microsoft.com/office/powerpoint/2010/main" val="3286896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21975" y="328468"/>
            <a:ext cx="7776337" cy="1185311"/>
          </a:xfrm>
          <a:solidFill>
            <a:srgbClr val="002060"/>
          </a:solidFill>
        </p:spPr>
        <p:txBody>
          <a:bodyPr>
            <a:normAutofit/>
          </a:bodyPr>
          <a:lstStyle/>
          <a:p>
            <a:pPr algn="r">
              <a:spcBef>
                <a:spcPts val="900"/>
              </a:spcBef>
            </a:pPr>
            <a:r>
              <a:rPr lang="fr-FR" sz="3600" b="1" dirty="0" smtClean="0">
                <a:solidFill>
                  <a:schemeClr val="bg1"/>
                </a:solidFill>
                <a:latin typeface="Cambria" panose="02040503050406030204" pitchFamily="18" charset="0"/>
                <a:ea typeface="Cambria" panose="02040503050406030204" pitchFamily="18" charset="0"/>
              </a:rPr>
              <a:t>Table ronde – 01/10 - 14h</a:t>
            </a:r>
            <a:endParaRPr lang="fr-FR" sz="2700" b="1" i="1" dirty="0">
              <a:solidFill>
                <a:srgbClr val="AF47BC"/>
              </a:solidFill>
              <a:latin typeface="Cambria" panose="02040503050406030204" pitchFamily="18" charset="0"/>
              <a:ea typeface="Cambria" panose="02040503050406030204" pitchFamily="18" charset="0"/>
            </a:endParaRP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17459" t="25146" r="17175" b="23815"/>
          <a:stretch/>
        </p:blipFill>
        <p:spPr>
          <a:xfrm>
            <a:off x="258776" y="221485"/>
            <a:ext cx="2877504" cy="865940"/>
          </a:xfrm>
          <a:prstGeom prst="rect">
            <a:avLst/>
          </a:prstGeom>
        </p:spPr>
      </p:pic>
      <p:sp>
        <p:nvSpPr>
          <p:cNvPr id="9" name="Espace réservé du contenu 2">
            <a:extLst>
              <a:ext uri="{FF2B5EF4-FFF2-40B4-BE49-F238E27FC236}">
                <a16:creationId xmlns:a16="http://schemas.microsoft.com/office/drawing/2014/main" id="{C5184484-8BA0-DD42-8F4B-F6DD67CE8E0B}"/>
              </a:ext>
            </a:extLst>
          </p:cNvPr>
          <p:cNvSpPr txBox="1">
            <a:spLocks/>
          </p:cNvSpPr>
          <p:nvPr/>
        </p:nvSpPr>
        <p:spPr>
          <a:xfrm>
            <a:off x="1021976" y="1779635"/>
            <a:ext cx="7776335" cy="3263504"/>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AF47BC"/>
              </a:buClr>
              <a:buSzPct val="100000"/>
              <a:buFont typeface="Wingdings" panose="05000000000000000000" pitchFamily="2" charset="2"/>
              <a:buChar char="§"/>
            </a:pPr>
            <a:endParaRPr lang="fr-FR" sz="1800" dirty="0">
              <a:solidFill>
                <a:srgbClr val="002060"/>
              </a:solidFill>
            </a:endParaRPr>
          </a:p>
        </p:txBody>
      </p:sp>
      <p:sp>
        <p:nvSpPr>
          <p:cNvPr id="3" name="ZoneTexte 2"/>
          <p:cNvSpPr txBox="1"/>
          <p:nvPr/>
        </p:nvSpPr>
        <p:spPr>
          <a:xfrm>
            <a:off x="1021974" y="1779635"/>
            <a:ext cx="6807575" cy="1200329"/>
          </a:xfrm>
          <a:prstGeom prst="rect">
            <a:avLst/>
          </a:prstGeom>
          <a:noFill/>
        </p:spPr>
        <p:txBody>
          <a:bodyPr wrap="square" rtlCol="0">
            <a:spAutoFit/>
          </a:bodyPr>
          <a:lstStyle/>
          <a:p>
            <a:pPr marL="285750" indent="-285750">
              <a:buFont typeface="Wingdings" panose="05000000000000000000" pitchFamily="2" charset="2"/>
              <a:buChar char="Ø"/>
            </a:pPr>
            <a:r>
              <a:rPr lang="fr-FR" dirty="0" smtClean="0"/>
              <a:t>Bilan des d</a:t>
            </a:r>
            <a:r>
              <a:rPr lang="fr-FR" dirty="0" smtClean="0"/>
              <a:t>ifférents </a:t>
            </a:r>
            <a:r>
              <a:rPr lang="fr-FR" dirty="0" smtClean="0"/>
              <a:t>thèmes </a:t>
            </a:r>
            <a:r>
              <a:rPr lang="fr-FR" dirty="0" smtClean="0"/>
              <a:t>abordés</a:t>
            </a:r>
            <a:endParaRPr lang="fr-FR" dirty="0"/>
          </a:p>
          <a:p>
            <a:pPr marL="285750" indent="-285750">
              <a:buFont typeface="Wingdings" panose="05000000000000000000" pitchFamily="2" charset="2"/>
              <a:buChar char="Ø"/>
            </a:pPr>
            <a:r>
              <a:rPr lang="fr-FR" dirty="0" smtClean="0"/>
              <a:t>Suites </a:t>
            </a:r>
            <a:r>
              <a:rPr lang="fr-FR" dirty="0" smtClean="0"/>
              <a:t>de </a:t>
            </a:r>
            <a:r>
              <a:rPr lang="fr-FR" dirty="0" smtClean="0"/>
              <a:t>l’action (création éventuelle d’un GT, montage de projet)</a:t>
            </a:r>
            <a:endParaRPr lang="fr-FR" dirty="0" smtClean="0"/>
          </a:p>
          <a:p>
            <a:pPr marL="285750" indent="-285750">
              <a:buFont typeface="Wingdings" panose="05000000000000000000" pitchFamily="2" charset="2"/>
              <a:buChar char="Ø"/>
            </a:pPr>
            <a:r>
              <a:rPr lang="fr-FR" dirty="0" smtClean="0"/>
              <a:t>Enseigner les méthodes basées-données</a:t>
            </a:r>
          </a:p>
          <a:p>
            <a:pPr marL="285750" indent="-285750">
              <a:buFont typeface="Wingdings" panose="05000000000000000000" pitchFamily="2" charset="2"/>
              <a:buChar char="Ø"/>
            </a:pPr>
            <a:r>
              <a:rPr lang="fr-FR" dirty="0" smtClean="0"/>
              <a:t>Recruter sur ces thèmes</a:t>
            </a:r>
            <a:endParaRPr lang="fr-FR" dirty="0"/>
          </a:p>
        </p:txBody>
      </p:sp>
    </p:spTree>
    <p:extLst>
      <p:ext uri="{BB962C8B-B14F-4D97-AF65-F5344CB8AC3E}">
        <p14:creationId xmlns:p14="http://schemas.microsoft.com/office/powerpoint/2010/main" val="1119696577"/>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EC3CF2CFEE34DB2E64DA9F87CAEEF" ma:contentTypeVersion="1" ma:contentTypeDescription="Crée un document." ma:contentTypeScope="" ma:versionID="12af467345754b85b0e7ecee0ab6395a">
  <xsd:schema xmlns:xsd="http://www.w3.org/2001/XMLSchema" xmlns:xs="http://www.w3.org/2001/XMLSchema" xmlns:p="http://schemas.microsoft.com/office/2006/metadata/properties" xmlns:ns1="http://schemas.microsoft.com/sharepoint/v3" targetNamespace="http://schemas.microsoft.com/office/2006/metadata/properties" ma:root="true" ma:fieldsID="62e97f2b4d9f3aeac32dd39fbd04568e"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063B0-CB52-4CE7-8E0B-9E1C4D52F0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5C13ED-3B5E-4EC3-9D3E-9D76C03758E9}">
  <ds:schemaRefs>
    <ds:schemaRef ds:uri="http://schemas.openxmlformats.org/package/2006/metadata/core-properties"/>
    <ds:schemaRef ds:uri="http://purl.org/dc/dcmitype/"/>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schemas.microsoft.com/sharepoint/v3"/>
    <ds:schemaRef ds:uri="http://www.w3.org/XML/1998/namespace"/>
    <ds:schemaRef ds:uri="http://purl.org/dc/terms/"/>
  </ds:schemaRefs>
</ds:datastoreItem>
</file>

<file path=customXml/itemProps3.xml><?xml version="1.0" encoding="utf-8"?>
<ds:datastoreItem xmlns:ds="http://schemas.openxmlformats.org/officeDocument/2006/customXml" ds:itemID="{A85F54E2-B3FB-4A72-AE52-416F72FA40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27505</TotalTime>
  <Words>233</Words>
  <Application>Microsoft Office PowerPoint</Application>
  <PresentationFormat>Affichage à l'écran (16:9)</PresentationFormat>
  <Paragraphs>33</Paragraphs>
  <Slides>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vt:i4>
      </vt:variant>
    </vt:vector>
  </HeadingPairs>
  <TitlesOfParts>
    <vt:vector size="11" baseType="lpstr">
      <vt:lpstr>Arial</vt:lpstr>
      <vt:lpstr>Calibri</vt:lpstr>
      <vt:lpstr>Calibri Light</vt:lpstr>
      <vt:lpstr>Cambria</vt:lpstr>
      <vt:lpstr>Wingdings</vt:lpstr>
      <vt:lpstr>Thème Office</vt:lpstr>
      <vt:lpstr>Méthodes basées-données pour la commande et l’analyse des systèmes Action GDR MACS </vt:lpstr>
      <vt:lpstr>Pourquoi cette action?</vt:lpstr>
      <vt:lpstr>Programme 30/09</vt:lpstr>
      <vt:lpstr>Programme 01/10</vt:lpstr>
      <vt:lpstr>Table ronde – 01/10 - 14h</vt:lpstr>
    </vt:vector>
  </TitlesOfParts>
  <Company>UCBL - Lyon 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Power Point du GDR_MACS</dc:title>
  <dc:creator>DOS SANTOS MARTINS VALERIE</dc:creator>
  <cp:lastModifiedBy>kergus</cp:lastModifiedBy>
  <cp:revision>141</cp:revision>
  <cp:lastPrinted>2022-03-17T07:10:08Z</cp:lastPrinted>
  <dcterms:created xsi:type="dcterms:W3CDTF">2021-04-27T07:34:10Z</dcterms:created>
  <dcterms:modified xsi:type="dcterms:W3CDTF">2025-09-28T21:18:42Z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0x010100831EC3CF2CFEE34DB2E64DA9F87CAEEF</vt:lpwstr>
  </property>
</Properties>
</file>